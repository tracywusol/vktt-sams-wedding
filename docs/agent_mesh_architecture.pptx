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  <a:latin typeface="Calibri"/>
              </a:rPr>
              <a:t>AGENT MESH —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4600" b="1" i="0">
                <a:solidFill>
                  <a:srgbClr val="111827"/>
                </a:solidFill>
                <a:latin typeface="Calibri"/>
              </a:rPr>
              <a:t>Six agents, one wedding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3288" y="3611880"/>
            <a:ext cx="731520" cy="2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How the agents work, talk to each other, and book the day.</a:t>
            </a:r>
          </a:p>
        </p:txBody>
      </p:sp>
      <p:sp>
        <p:nvSpPr>
          <p:cNvPr id="7" name="Oval 6"/>
          <p:cNvSpPr/>
          <p:nvPr/>
        </p:nvSpPr>
        <p:spPr>
          <a:xfrm>
            <a:off x="2049627" y="4732020"/>
            <a:ext cx="777240" cy="777240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3887" y="562356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111827"/>
                </a:solidFill>
                <a:latin typeface="Calibri"/>
              </a:rPr>
              <a:t>Orchestrator</a:t>
            </a:r>
          </a:p>
        </p:txBody>
      </p:sp>
      <p:sp>
        <p:nvSpPr>
          <p:cNvPr id="9" name="Oval 8"/>
          <p:cNvSpPr/>
          <p:nvPr/>
        </p:nvSpPr>
        <p:spPr>
          <a:xfrm>
            <a:off x="3512667" y="473202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6927" y="562356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111827"/>
                </a:solidFill>
                <a:latin typeface="Calibri"/>
              </a:rPr>
              <a:t>Wedding Venue</a:t>
            </a:r>
          </a:p>
        </p:txBody>
      </p:sp>
      <p:sp>
        <p:nvSpPr>
          <p:cNvPr id="11" name="Oval 10"/>
          <p:cNvSpPr/>
          <p:nvPr/>
        </p:nvSpPr>
        <p:spPr>
          <a:xfrm>
            <a:off x="4975707" y="4732020"/>
            <a:ext cx="777240" cy="7772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9967" y="562356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111827"/>
                </a:solidFill>
                <a:latin typeface="Calibri"/>
              </a:rPr>
              <a:t>Catering</a:t>
            </a:r>
          </a:p>
        </p:txBody>
      </p:sp>
      <p:sp>
        <p:nvSpPr>
          <p:cNvPr id="13" name="Oval 12"/>
          <p:cNvSpPr/>
          <p:nvPr/>
        </p:nvSpPr>
        <p:spPr>
          <a:xfrm>
            <a:off x="6438747" y="4732020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562356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111827"/>
                </a:solidFill>
                <a:latin typeface="Calibri"/>
              </a:rPr>
              <a:t>Decorator</a:t>
            </a:r>
          </a:p>
        </p:txBody>
      </p:sp>
      <p:sp>
        <p:nvSpPr>
          <p:cNvPr id="15" name="Oval 14"/>
          <p:cNvSpPr/>
          <p:nvPr/>
        </p:nvSpPr>
        <p:spPr>
          <a:xfrm>
            <a:off x="7901787" y="4732020"/>
            <a:ext cx="777240" cy="7772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6047" y="562356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111827"/>
                </a:solidFill>
                <a:latin typeface="Calibri"/>
              </a:rPr>
              <a:t>Photo</a:t>
            </a:r>
          </a:p>
        </p:txBody>
      </p:sp>
      <p:sp>
        <p:nvSpPr>
          <p:cNvPr id="17" name="Oval 16"/>
          <p:cNvSpPr/>
          <p:nvPr/>
        </p:nvSpPr>
        <p:spPr>
          <a:xfrm>
            <a:off x="9364827" y="4732020"/>
            <a:ext cx="777240" cy="77724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9087" y="562356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111827"/>
                </a:solidFill>
                <a:latin typeface="Calibri"/>
              </a:rPr>
              <a:t>Email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ROLE 1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Orchestrator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Routes user requests AND mesh events — and pings LINE on alerts.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1965960"/>
            <a:ext cx="1554480" cy="1554480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58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4B5563"/>
                </a:solidFill>
                <a:latin typeface="Calibri"/>
              </a:rPr>
              <a:t>ORCHESTRATOR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06140" y="1943100"/>
            <a:ext cx="502920" cy="502920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938528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Listens to user chat AND to S3-driven alerts on the Solace mesh.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724912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06140" y="2839212"/>
            <a:ext cx="502920" cy="502920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834640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Routes user requests to the right specialist agent.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621024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06140" y="3735324"/>
            <a:ext cx="502920" cy="502920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730752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Sends LINE notifications when a wedding alert arrives.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4517136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406140" y="4631436"/>
            <a:ext cx="502920" cy="502920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626864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Coordinates multi-agent workflows and returns reports.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30000"/>
            </a:avLst>
          </a:prstGeom>
          <a:solidFill>
            <a:srgbClr val="FAFBFC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ALSO TALKS TO</a:t>
            </a:r>
          </a:p>
        </p:txBody>
      </p:sp>
      <p:sp>
        <p:nvSpPr>
          <p:cNvPr id="25" name="Oval 24"/>
          <p:cNvSpPr/>
          <p:nvPr/>
        </p:nvSpPr>
        <p:spPr>
          <a:xfrm>
            <a:off x="7863840" y="5687568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742432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User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5687568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Wedding Venue</a:t>
            </a:r>
          </a:p>
        </p:txBody>
      </p:sp>
      <p:sp>
        <p:nvSpPr>
          <p:cNvPr id="29" name="Oval 28"/>
          <p:cNvSpPr/>
          <p:nvPr/>
        </p:nvSpPr>
        <p:spPr>
          <a:xfrm>
            <a:off x="11375136" y="5687568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86616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  <a:latin typeface="Calibri"/>
              </a:rPr>
              <a:t>Catering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ROLE 2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Wedding Venue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Finds and books a wedding venue.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1965960"/>
            <a:ext cx="1554480" cy="1554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58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Calibri"/>
              </a:rPr>
              <a:t>WEDDING 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06140" y="19431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938528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Asks for guest count, city, date, and event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724912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06140" y="283921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834640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Searches for venues that match the requirements.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621024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06140" y="3735324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730752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Provides venue details and a price quote.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4517136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406140" y="4631436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626864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Sends a booking-request email to the chosen venue.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30000"/>
            </a:avLst>
          </a:prstGeom>
          <a:solidFill>
            <a:srgbClr val="FAFBFC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HANDS OFF TO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5687568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74243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  <a:latin typeface="Calibri"/>
              </a:rPr>
              <a:t>Catering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ALSO TALKS TO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0" y="5687568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742432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User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ROLE 3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Catering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Picks the right caterer for the wedding meal.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1965960"/>
            <a:ext cx="1554480" cy="15544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5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  <a:latin typeface="Calibri"/>
              </a:rPr>
              <a:t>CATERING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06140" y="1943100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938528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Knows the guest count silently — never re-asks.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724912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06140" y="2839212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834640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Walks through cuisine, dietary needs, alcohol, dessert.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621024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06140" y="3735324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730752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Matches a caterer in the venue's city within budget.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4517136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406140" y="4631436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626864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Sends a booking-request email to the chosen caterer.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30000"/>
            </a:avLst>
          </a:prstGeom>
          <a:solidFill>
            <a:srgbClr val="FAFBFC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HANDS OFF TO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56875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74243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Decorator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ALSO TALKS TO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0" y="5687568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742432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ROLE 4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Decorator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Designs the look and feel of the wedding.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1965960"/>
            <a:ext cx="1554480" cy="1554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5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Calibri"/>
              </a:rPr>
              <a:t>DECORATOR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06140" y="19431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938528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Knows the venue, city, and indoor/outdoor setting silently.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724912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06140" y="283921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834640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Suggests themes that suit the venue.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621024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06140" y="3735324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730752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Gathers flower preferences, colour palette, and budget.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4517136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406140" y="4631436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626864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Books the chosen decorator through the Email Agent.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30000"/>
            </a:avLst>
          </a:prstGeom>
          <a:solidFill>
            <a:srgbClr val="FAFBFC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HANDS OFF TO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5687568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74243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Photo &amp; Video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ALSO TALKS TO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0" y="5687568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742432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User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5687568"/>
            <a:ext cx="365760" cy="36576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Email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ROLE 5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Photo &amp; Video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Books a photographer to capture the 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1965960"/>
            <a:ext cx="1554480" cy="1554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58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PHOTO &amp;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06140" y="194310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938528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Knows the city and venue silently — never re-asks.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724912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06140" y="2839212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834640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Presents 4 packages — from essential photos to full cinematic.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621024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06140" y="3735324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730752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Asks for preferred style and budget.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4517136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406140" y="4631436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626864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Books the chosen photographer through the Email Agent.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30000"/>
            </a:avLst>
          </a:prstGeom>
          <a:solidFill>
            <a:srgbClr val="FAFBFC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ALSO TALKS TO</a:t>
            </a:r>
          </a:p>
        </p:txBody>
      </p:sp>
      <p:sp>
        <p:nvSpPr>
          <p:cNvPr id="25" name="Oval 24"/>
          <p:cNvSpPr/>
          <p:nvPr/>
        </p:nvSpPr>
        <p:spPr>
          <a:xfrm>
            <a:off x="7863840" y="5687568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742432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User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5687568"/>
            <a:ext cx="365760" cy="36576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Email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ROLE 6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Email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Sends booking emails on behalf of the couple.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1965960"/>
            <a:ext cx="1554480" cy="155448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58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475569"/>
                </a:solidFill>
                <a:latin typeface="Calibri"/>
              </a:rPr>
              <a:t>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06140" y="1943100"/>
            <a:ext cx="502920" cy="50292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938528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Never talks to the user — only to other agents.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724912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06140" y="2839212"/>
            <a:ext cx="502920" cy="50292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834640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Sends formal booking-request emails to vendors.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621024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06140" y="3735324"/>
            <a:ext cx="502920" cy="50292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730752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Sends a full wedding summary email to the couple at the end.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4517136"/>
            <a:ext cx="84124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406140" y="4631436"/>
            <a:ext cx="502920" cy="50292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626864"/>
            <a:ext cx="75438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Logs every email it sent for the session.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30000"/>
            </a:avLst>
          </a:prstGeom>
          <a:solidFill>
            <a:srgbClr val="FAFBFC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ALSO TALKS TO</a:t>
            </a:r>
          </a:p>
        </p:txBody>
      </p:sp>
      <p:sp>
        <p:nvSpPr>
          <p:cNvPr id="25" name="Oval 24"/>
          <p:cNvSpPr/>
          <p:nvPr/>
        </p:nvSpPr>
        <p:spPr>
          <a:xfrm>
            <a:off x="7863840" y="5687568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Wedding Venue</a:t>
            </a:r>
          </a:p>
        </p:txBody>
      </p:sp>
      <p:sp>
        <p:nvSpPr>
          <p:cNvPr id="27" name="Oval 26"/>
          <p:cNvSpPr/>
          <p:nvPr/>
        </p:nvSpPr>
        <p:spPr>
          <a:xfrm>
            <a:off x="10460736" y="5687568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72216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  <a:latin typeface="Calibri"/>
              </a:rPr>
              <a:t>Catering</a:t>
            </a:r>
          </a:p>
        </p:txBody>
      </p:sp>
      <p:sp>
        <p:nvSpPr>
          <p:cNvPr id="29" name="Oval 28"/>
          <p:cNvSpPr/>
          <p:nvPr/>
        </p:nvSpPr>
        <p:spPr>
          <a:xfrm>
            <a:off x="12234672" y="56875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46152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Decorator</a:t>
            </a:r>
          </a:p>
        </p:txBody>
      </p:sp>
      <p:sp>
        <p:nvSpPr>
          <p:cNvPr id="31" name="Oval 30"/>
          <p:cNvSpPr/>
          <p:nvPr/>
        </p:nvSpPr>
        <p:spPr>
          <a:xfrm>
            <a:off x="14173200" y="5687568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84680" y="574243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Photo &amp; Video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Two ways into the 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Both ingress paths land at the Orchestrator — humans go through the WebUI, machines go through the Event Mesh Gateway.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052560" y="3474720"/>
            <a:ext cx="1097280" cy="1097280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663440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4B5563"/>
                </a:solidFill>
                <a:latin typeface="Calibri"/>
              </a:rPr>
              <a:t>OrchestratorAgent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PATH 1 — HUMAN (WEBUI GATEWAY)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" y="2263139"/>
            <a:ext cx="777240" cy="7772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79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  <a:latin typeface="Calibri"/>
              </a:rPr>
              <a:t>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423159"/>
            <a:ext cx="21945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>
                <a:solidFill>
                  <a:srgbClr val="374151"/>
                </a:solidFill>
                <a:latin typeface="Calibri"/>
              </a:rPr>
              <a:t>WebUI Gateway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:8000  ·  FastAPI + SSE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08760" y="2743199"/>
            <a:ext cx="1234440" cy="0"/>
          </a:xfrm>
          <a:prstGeom prst="line">
            <a:avLst/>
          </a:prstGeom>
          <a:ln w="20320">
            <a:solidFill>
              <a:srgbClr val="D97706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37760" y="2743199"/>
            <a:ext cx="3931920" cy="822961"/>
          </a:xfrm>
          <a:prstGeom prst="line">
            <a:avLst/>
          </a:prstGeom>
          <a:ln w="20320">
            <a:solidFill>
              <a:srgbClr val="D97706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20640" y="3428999"/>
            <a:ext cx="40233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630167"/>
            <a:ext cx="4023360" cy="621792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Help us plan our wedding.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PATH 2 — MACHINE (EVENT MESH GATEWAY)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15544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>
                <a:solidFill>
                  <a:srgbClr val="7C3AED"/>
                </a:solidFill>
                <a:latin typeface="Calibri"/>
              </a:rPr>
              <a:t>S3 Micro Integration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Solace connector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892040"/>
            <a:ext cx="1828800" cy="502920"/>
          </a:xfrm>
          <a:prstGeom prst="roundRect">
            <a:avLst>
              <a:gd name="adj" fmla="val 40000"/>
            </a:avLst>
          </a:prstGeom>
          <a:solidFill>
            <a:srgbClr val="FAFBFC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86000" y="501091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  <a:latin typeface="Consolas"/>
              </a:rPr>
              <a:t>wedding/alerts/&gt;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800600"/>
            <a:ext cx="219456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100" b="1">
                <a:solidFill>
                  <a:srgbClr val="7C3AED"/>
                </a:solidFill>
                <a:latin typeface="Calibri"/>
              </a:rPr>
              <a:t>Event Mesh Gateway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subscribes · forwards as A2A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03120" y="5148072"/>
            <a:ext cx="182880" cy="0"/>
          </a:xfrm>
          <a:prstGeom prst="line">
            <a:avLst/>
          </a:prstGeom>
          <a:ln w="17780">
            <a:solidFill>
              <a:srgbClr val="7C3AED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14800" y="5148072"/>
            <a:ext cx="182880" cy="0"/>
          </a:xfrm>
          <a:prstGeom prst="line">
            <a:avLst/>
          </a:prstGeom>
          <a:ln w="17780">
            <a:solidFill>
              <a:srgbClr val="7C3AED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492240" y="4480560"/>
            <a:ext cx="2377440" cy="667512"/>
          </a:xfrm>
          <a:prstGeom prst="line">
            <a:avLst/>
          </a:prstGeom>
          <a:ln w="20320">
            <a:solidFill>
              <a:srgbClr val="7C3AED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75120" y="5669280"/>
            <a:ext cx="42976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wedding/alerts/s3-event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5870448"/>
            <a:ext cx="4297680" cy="621792"/>
          </a:xfrm>
          <a:prstGeom prst="roundRect">
            <a:avLst>
              <a:gd name="adj" fmla="val 18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000">
                <a:solidFill>
                  <a:srgbClr val="111827"/>
                </a:solidFill>
                <a:latin typeface="Calibri"/>
              </a:rPr>
              <a:t>{"bucket":"wedding-docs","key":"signed-contract.pdf"}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The Orchestrator hands off to a chain of specialists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After the first handoff the chain is automatic — each agent triggers the next.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661507" y="1577340"/>
            <a:ext cx="868680" cy="868680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0007" y="251460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4B5563"/>
                </a:solidFill>
                <a:latin typeface="Calibri"/>
              </a:rPr>
              <a:t>Orchestrator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047" y="338328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52347" y="356616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5287" y="3493008"/>
            <a:ext cx="1417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Wedding 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5287" y="3794760"/>
            <a:ext cx="1417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120 guests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7940">
            <a:solidFill>
              <a:srgbClr val="37415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24047" y="354330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1">
                <a:solidFill>
                  <a:srgbClr val="6B7280"/>
                </a:solidFill>
                <a:latin typeface="Calibri"/>
              </a:rPr>
              <a:t>venue chosen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81247" y="338328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95547" y="3566160"/>
            <a:ext cx="594360" cy="5943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8487" y="3493008"/>
            <a:ext cx="1417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Calibri"/>
              </a:rPr>
              <a:t>Catering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487" y="3794760"/>
            <a:ext cx="1417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Italian + Indian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7940">
            <a:solidFill>
              <a:srgbClr val="37415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67247" y="354330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1">
                <a:solidFill>
                  <a:srgbClr val="6B7280"/>
                </a:solidFill>
                <a:latin typeface="Calibri"/>
              </a:rPr>
              <a:t>catering chosen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7" y="338328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38747" y="356616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1687" y="3493008"/>
            <a:ext cx="1417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Decorator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1687" y="3794760"/>
            <a:ext cx="1417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Romantic + blush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7940">
            <a:solidFill>
              <a:srgbClr val="37415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10447" y="3543300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1">
                <a:solidFill>
                  <a:srgbClr val="6B7280"/>
                </a:solidFill>
                <a:latin typeface="Calibri"/>
              </a:rPr>
              <a:t>decorator chosen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647" y="338328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81947" y="3566160"/>
            <a:ext cx="594360" cy="5943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4887" y="3493008"/>
            <a:ext cx="1417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Photo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4887" y="3794760"/>
            <a:ext cx="1417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Cinematic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0" y="2468880"/>
            <a:ext cx="0" cy="914400"/>
          </a:xfrm>
          <a:prstGeom prst="line">
            <a:avLst/>
          </a:prstGeom>
          <a:ln w="25400">
            <a:solidFill>
              <a:srgbClr val="4B5563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809847" y="2880360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1">
                <a:solidFill>
                  <a:srgbClr val="4B5563"/>
                </a:solidFill>
                <a:latin typeface="Calibri"/>
              </a:rPr>
              <a:t>first handoff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95447" y="5166360"/>
            <a:ext cx="6400800" cy="64008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101187" y="52349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475569"/>
                </a:solidFill>
                <a:latin typeface="Calibri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2687" y="5330952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Email Agent · sends every booking email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0" y="4343400"/>
            <a:ext cx="0" cy="822960"/>
          </a:xfrm>
          <a:prstGeom prst="line">
            <a:avLst/>
          </a:prstGeom>
          <a:ln w="15240">
            <a:solidFill>
              <a:srgbClr val="B8BEC8"/>
            </a:solidFill>
            <a:prstDash val="dash"/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4343400"/>
            <a:ext cx="0" cy="822960"/>
          </a:xfrm>
          <a:prstGeom prst="line">
            <a:avLst/>
          </a:prstGeom>
          <a:ln w="15240">
            <a:solidFill>
              <a:srgbClr val="B8BEC8"/>
            </a:solidFill>
            <a:prstDash val="dash"/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4343400"/>
            <a:ext cx="0" cy="822960"/>
          </a:xfrm>
          <a:prstGeom prst="line">
            <a:avLst/>
          </a:prstGeom>
          <a:ln w="15240">
            <a:solidFill>
              <a:srgbClr val="B8BEC8"/>
            </a:solidFill>
            <a:prstDash val="dash"/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4343400"/>
            <a:ext cx="0" cy="822960"/>
          </a:xfrm>
          <a:prstGeom prst="line">
            <a:avLst/>
          </a:prstGeom>
          <a:ln w="15240">
            <a:solidFill>
              <a:srgbClr val="B8BEC8"/>
            </a:solidFill>
            <a:prstDash val="dash"/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Each handoff carries forward the known facts — guest count, city, venue. The user is asked for each thing only once.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10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EVENT-DRIVEN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S3 event  →  wedding/alerts/&gt;  →  LINE notification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The S3 Micro Integration Connector publishes to the Solace broker. The Event Mesh Gateway forwards it into the mesh.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18288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737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  <a:latin typeface="Calibri"/>
              </a:rPr>
              <a:t>S3</a:t>
            </a:r>
          </a:p>
          <a:p>
            <a:pPr algn="ctr"/>
            <a:r>
              <a:rPr sz="1200" b="1" i="0">
                <a:solidFill>
                  <a:srgbClr val="D97706"/>
                </a:solidFill>
                <a:latin typeface="Calibri"/>
              </a:rPr>
              <a:t>Connector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04872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Solace S3 Micro</a:t>
            </a:r>
          </a:p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Integration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0"/>
            <a:ext cx="256032" cy="0"/>
          </a:xfrm>
          <a:prstGeom prst="line">
            <a:avLst/>
          </a:prstGeom>
          <a:ln w="20320">
            <a:solidFill>
              <a:srgbClr val="37415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79192" y="1965960"/>
            <a:ext cx="18288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24912" y="2057400"/>
            <a:ext cx="1737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Calibri"/>
              </a:rPr>
              <a:t>wedding/alerts/&gt;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2404872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Solace broker topic</a:t>
            </a:r>
          </a:p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(data plane)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07992" y="0"/>
            <a:ext cx="256032" cy="0"/>
          </a:xfrm>
          <a:prstGeom prst="line">
            <a:avLst/>
          </a:prstGeom>
          <a:ln w="20320">
            <a:solidFill>
              <a:srgbClr val="37415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64024" y="1965960"/>
            <a:ext cx="18288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9744" y="2057400"/>
            <a:ext cx="1737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Calibri"/>
              </a:rPr>
              <a:t>Event Mesh</a:t>
            </a:r>
          </a:p>
          <a:p>
            <a:pPr algn="ctr"/>
            <a:r>
              <a:rPr sz="1200" b="1" i="0">
                <a:solidFill>
                  <a:srgbClr val="7C3AED"/>
                </a:solidFill>
                <a:latin typeface="Calibri"/>
              </a:rPr>
              <a:t>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2404872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subscribes +</a:t>
            </a:r>
          </a:p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forwards as A2A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92824" y="0"/>
            <a:ext cx="256032" cy="0"/>
          </a:xfrm>
          <a:prstGeom prst="line">
            <a:avLst/>
          </a:prstGeom>
          <a:ln w="20320">
            <a:solidFill>
              <a:srgbClr val="37415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48856" y="1965960"/>
            <a:ext cx="18288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94576" y="2057400"/>
            <a:ext cx="1737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4B5563"/>
                </a:solidFill>
                <a:latin typeface="Calibri"/>
              </a:rPr>
              <a:t>Orchestrator</a:t>
            </a:r>
          </a:p>
          <a:p>
            <a:pPr algn="ctr"/>
            <a:r>
              <a:rPr sz="1200" b="1" i="0">
                <a:solidFill>
                  <a:srgbClr val="4B5563"/>
                </a:solidFill>
                <a:latin typeface="Calibri"/>
              </a:rPr>
              <a:t>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404872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receives A2A request</a:t>
            </a:r>
          </a:p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runs LLM + tool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77656" y="0"/>
            <a:ext cx="256032" cy="0"/>
          </a:xfrm>
          <a:prstGeom prst="line">
            <a:avLst/>
          </a:prstGeom>
          <a:ln w="20320">
            <a:solidFill>
              <a:srgbClr val="37415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33688" y="1965960"/>
            <a:ext cx="18288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79408" y="2057400"/>
            <a:ext cx="1737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LINE</a:t>
            </a:r>
          </a:p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2404872"/>
            <a:ext cx="17373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delivers</a:t>
            </a:r>
          </a:p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notification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200400"/>
            <a:ext cx="50292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EXAMPLE S3 EVENT PAYLOAD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474720"/>
            <a:ext cx="5029200" cy="100584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3547872"/>
            <a:ext cx="47548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onsolas"/>
              </a:rPr>
              <a:t>{"bucket": "wedding-docs",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onsolas"/>
              </a:rPr>
              <a:t> "key":    "signed-contract.pdf",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onsolas"/>
              </a:rPr>
              <a:t> "event":  "ObjectCreated",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onsolas"/>
              </a:rPr>
              <a:t> "correlation_id": "abc-123"}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200400"/>
            <a:ext cx="5943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GATEWAY WRAPS PAYLOAD → A2A REQUEST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3474720"/>
            <a:ext cx="5943600" cy="100584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3547872"/>
            <a:ext cx="5669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  <a:latin typeface="Consolas"/>
              </a:rPr>
              <a:t>subscriptions: ["wedding/alerts/&gt;"]</a:t>
            </a:r>
          </a:p>
          <a:p>
            <a:pPr algn="l"/>
            <a:r>
              <a:rPr sz="1000" b="0" i="0">
                <a:solidFill>
                  <a:srgbClr val="7C3AED"/>
                </a:solidFill>
                <a:latin typeface="Consolas"/>
              </a:rPr>
              <a:t>input_expression:</a:t>
            </a:r>
          </a:p>
          <a:p>
            <a:pPr algn="l"/>
            <a:r>
              <a:rPr sz="1000" b="0" i="0">
                <a:solidFill>
                  <a:srgbClr val="7C3AED"/>
                </a:solidFill>
                <a:latin typeface="Consolas"/>
              </a:rPr>
              <a:t>  "Alert received, notify on LINE: {{json://input.payload}}"</a:t>
            </a:r>
          </a:p>
          <a:p>
            <a:pPr algn="l"/>
            <a:r>
              <a:rPr sz="1000" b="0" i="0">
                <a:solidFill>
                  <a:srgbClr val="7C3AED"/>
                </a:solidFill>
                <a:latin typeface="Consolas"/>
              </a:rPr>
              <a:t>target_agent_name: "OrchestratorAgent"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480560"/>
            <a:ext cx="10972800" cy="4572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59028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onsolas"/>
              </a:rPr>
              <a:t>Success → event_mesh/responses/{correlation_id}   ·   Error → event_mesh/errors/{correlation_id}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11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EVENT MESH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How it processes an inbound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Five stages — from a topic message arriving on the broker to a response published 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9487" y="1737360"/>
            <a:ext cx="1920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2639" y="1828800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8127" y="1847088"/>
            <a:ext cx="129844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SUBSCRIBE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9215" y="2286000"/>
            <a:ext cx="1755648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1">
                <a:solidFill>
                  <a:srgbClr val="374151"/>
                </a:solidFill>
                <a:latin typeface="Calibri"/>
              </a:rPr>
              <a:t>wedding/alerts/&gt;</a:t>
            </a:r>
          </a:p>
          <a:p>
            <a:pPr algn="l"/>
            <a:r>
              <a:rPr sz="950" b="0" i="1">
                <a:solidFill>
                  <a:srgbClr val="374151"/>
                </a:solidFill>
                <a:latin typeface="Calibri"/>
              </a:rPr>
              <a:t>QoS 1</a:t>
            </a:r>
          </a:p>
          <a:p>
            <a:pPr algn="l"/>
            <a:r>
              <a:rPr sz="950" b="0" i="1">
                <a:solidFill>
                  <a:srgbClr val="374151"/>
                </a:solidFill>
                <a:latin typeface="Calibri"/>
              </a:rPr>
              <a:t>inbound topic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B8BEC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032607" y="1737360"/>
            <a:ext cx="1920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105759" y="1828800"/>
            <a:ext cx="402336" cy="402336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247" y="1847088"/>
            <a:ext cx="129844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  <a:latin typeface="Calibri"/>
              </a:rPr>
              <a:t>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2335" y="2286000"/>
            <a:ext cx="1755648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1">
                <a:solidFill>
                  <a:srgbClr val="374151"/>
                </a:solidFill>
                <a:latin typeface="Calibri"/>
              </a:rPr>
              <a:t>JSON decode</a:t>
            </a:r>
          </a:p>
          <a:p>
            <a:pPr algn="l"/>
            <a:r>
              <a:rPr sz="950" b="0" i="1">
                <a:solidFill>
                  <a:srgbClr val="374151"/>
                </a:solidFill>
                <a:latin typeface="Calibri"/>
              </a:rPr>
              <a:t>extract user props</a:t>
            </a:r>
          </a:p>
          <a:p>
            <a:pPr algn="l"/>
            <a:r>
              <a:rPr sz="950" b="0" i="1">
                <a:solidFill>
                  <a:srgbClr val="374151"/>
                </a:solidFill>
                <a:latin typeface="Calibri"/>
              </a:rPr>
              <a:t>forward corr. ID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B8BEC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35727" y="1737360"/>
            <a:ext cx="1920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08879" y="1828800"/>
            <a:ext cx="402336" cy="40233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4367" y="1847088"/>
            <a:ext cx="129844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BUILD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5455" y="2286000"/>
            <a:ext cx="1755648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1">
                <a:solidFill>
                  <a:srgbClr val="374151"/>
                </a:solidFill>
                <a:latin typeface="Calibri"/>
              </a:rPr>
              <a:t>render input_expression</a:t>
            </a:r>
          </a:p>
          <a:p>
            <a:pPr algn="l"/>
            <a:r>
              <a:rPr sz="950" b="0" i="1">
                <a:solidFill>
                  <a:srgbClr val="374151"/>
                </a:solidFill>
                <a:latin typeface="Calibri"/>
              </a:rPr>
              <a:t>template + payload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B8BEC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38847" y="1737360"/>
            <a:ext cx="1920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11999" y="1828800"/>
            <a:ext cx="402336" cy="402336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487" y="1847088"/>
            <a:ext cx="129844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4B5563"/>
                </a:solidFill>
                <a:latin typeface="Calibri"/>
              </a:rPr>
              <a:t>DELEGATE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8575" y="2286000"/>
            <a:ext cx="1755648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1">
                <a:solidFill>
                  <a:srgbClr val="374151"/>
                </a:solidFill>
                <a:latin typeface="Calibri"/>
              </a:rPr>
              <a:t>A2A message/send</a:t>
            </a:r>
          </a:p>
          <a:p>
            <a:pPr algn="l"/>
            <a:r>
              <a:rPr sz="950" b="0" i="1">
                <a:solidFill>
                  <a:srgbClr val="374151"/>
                </a:solidFill>
                <a:latin typeface="Calibri"/>
              </a:rPr>
              <a:t>to OrchestratorAgent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B8BEC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341967" y="1737360"/>
            <a:ext cx="1920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415119" y="1828800"/>
            <a:ext cx="402336" cy="40233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0607" y="1847088"/>
            <a:ext cx="129844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RESPOND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1695" y="2286000"/>
            <a:ext cx="1755648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1">
                <a:solidFill>
                  <a:srgbClr val="374151"/>
                </a:solidFill>
                <a:latin typeface="Calibri"/>
              </a:rPr>
              <a:t>success → responses/{id}</a:t>
            </a:r>
          </a:p>
          <a:p>
            <a:pPr algn="l"/>
            <a:r>
              <a:rPr sz="950" b="0" i="1">
                <a:solidFill>
                  <a:srgbClr val="374151"/>
                </a:solidFill>
                <a:latin typeface="Calibri"/>
              </a:rPr>
              <a:t>error → errors/{id}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611880"/>
            <a:ext cx="5486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event_handlers — inbound config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904488"/>
            <a:ext cx="5486400" cy="246888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3995928"/>
            <a:ext cx="521208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subscriptions: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  - topic: "wedding/alerts/&gt;"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    qos: 1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payload_format: "json"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input_expression: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  "template: A wedding alert was received,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   notify guests on LINE: {{json://input.payload}}"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target_agent_name: "OrchestratorAgent"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forward_context: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  correlation_id: "input.user_properties:correlation_id"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611880"/>
            <a:ext cx="5486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output_handlers — response routing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904488"/>
            <a:ext cx="5486400" cy="246888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3995928"/>
            <a:ext cx="521208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# on success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topic_expression: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  "template:event_mesh/responses/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   {{text://user_data.forward_context:correlation_id}}"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payload_expression: "task_response:text"</a:t>
            </a:r>
          </a:p>
          <a:p>
            <a:pPr algn="l"/>
            <a:endParaRPr sz="1000" b="0" i="0">
              <a:solidFill>
                <a:srgbClr val="374151"/>
              </a:solidFill>
              <a:latin typeface="Consolas"/>
            </a:endParaRP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# on error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topic_expression: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  "template:event_mesh/errors/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   {{text://user_data.forward_context:correlation_id}}"</a:t>
            </a:r>
          </a:p>
          <a:p>
            <a:pPr algn="l"/>
            <a:r>
              <a:rPr sz="1000" b="0" i="0">
                <a:solidFill>
                  <a:srgbClr val="374151"/>
                </a:solidFill>
                <a:latin typeface="Consolas"/>
              </a:rPr>
              <a:t>payload_expression: "task_response:a2a_task_response.error"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12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Meet Sarah &amp; James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We'll follow them through one chat — start to four signed booking emails.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114800" y="201168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201168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65760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i="0">
                <a:solidFill>
                  <a:srgbClr val="111827"/>
                </a:solidFill>
                <a:latin typeface="Calibri"/>
              </a:rPr>
              <a:t>Sarah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i="0">
                <a:solidFill>
                  <a:srgbClr val="111827"/>
                </a:solidFill>
                <a:latin typeface="Calibri"/>
              </a:rPr>
              <a:t>James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297680"/>
            <a:ext cx="7680960" cy="128016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0" y="448056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  <a:latin typeface="Calibri"/>
              </a:rPr>
              <a:t>GUESTS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800600"/>
            <a:ext cx="1920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i="0">
                <a:solidFill>
                  <a:srgbClr val="111827"/>
                </a:solidFill>
                <a:latin typeface="Calibri"/>
              </a:rPr>
              <a:t>120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2240" y="4480560"/>
            <a:ext cx="8000" cy="9144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0" y="448056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  <a:latin typeface="Calibri"/>
              </a:rPr>
              <a:t>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800600"/>
            <a:ext cx="1920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i="0">
                <a:solidFill>
                  <a:srgbClr val="111827"/>
                </a:solidFill>
                <a:latin typeface="Calibri"/>
              </a:rPr>
              <a:t>London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2480" y="4480560"/>
            <a:ext cx="8000" cy="9144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448056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  <a:latin typeface="Calibri"/>
              </a:rPr>
              <a:t>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800600"/>
            <a:ext cx="1920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i="0">
                <a:solidFill>
                  <a:srgbClr val="111827"/>
                </a:solidFill>
                <a:latin typeface="Calibri"/>
              </a:rPr>
              <a:t>Sept 14,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2720" y="4480560"/>
            <a:ext cx="8000" cy="9144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448056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  <a:latin typeface="Calibri"/>
              </a:rPr>
              <a:t>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800600"/>
            <a:ext cx="1920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 i="0">
                <a:solidFill>
                  <a:srgbClr val="111827"/>
                </a:solidFill>
                <a:latin typeface="Calibri"/>
              </a:rPr>
              <a:t>ceremony + reception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879592"/>
            <a:ext cx="11064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ONE conversation  ·  FIVE agents  ·  FOUR vendors  ·  FIVE booking emails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13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Sarah and James plan their wedding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Six exchanges. The orchestrator routes the first one — every other agent inherits the context.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7697" y="182880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U → Orch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697" y="202996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Help us plan our wedding!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697" y="265176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697" y="285292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I need: guests, city, date, event 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697" y="347472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Sarah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7697" y="367588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120, London, Sept 14, ceremony + reception.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697" y="429768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7697" y="449884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Booked The Langham ✓ — handing over to Catering.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97" y="512064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Catering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7697" y="532180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I see your 120 guests at The Langham. Cuisine?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1328" y="182880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Sarah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1328" y="202996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Italian + Indian. Some vegetarian.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1328" y="265176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Catering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1328" y="285292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Bombay Brasserie booked ✓ — over to Decorator.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1328" y="347472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Decorator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1328" y="367588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Indoor at The Langham — theme, flowers, colour?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1328" y="429768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Sarah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1328" y="449884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Romantic. Blush &amp; ivory. Peonies.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1328" y="512064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Decorator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1328" y="532180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Bloomsbury Florals booked ✓ — over to Photo.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4959" y="182880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Photo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4959" y="202996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Final step! Pick a package.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4959" y="265176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Sarah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4959" y="285292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Signature, cinematic style.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4959" y="3474720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Photo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4959" y="3675888"/>
            <a:ext cx="3749039" cy="530352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/>
            <a:r>
              <a:rPr sz="1100">
                <a:solidFill>
                  <a:srgbClr val="111827"/>
                </a:solidFill>
                <a:latin typeface="Calibri"/>
              </a:rPr>
              <a:t>Linnea &amp; Co booked ✓ — your wedding is fully planned!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37415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37415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✓ Venue booked  ·  ✓ Catering booked  ·  ✓ Decorator booked  ·  ✓ Photo booked  ·  ✉ Summary email to Sarah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14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DESIGN 1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Orchestrator Agent —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Routes user requests AND mesh events — and pings LINE on alerts.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95660" y="571500"/>
            <a:ext cx="502920" cy="502920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67665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309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  <a:latin typeface="Calibri"/>
              </a:rP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286000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Built-in: artifact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066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61518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Built-in: data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35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2944368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Built-in: web 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40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42232" y="2286000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Custom: send LINE message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40" y="27066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42232" y="261518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Delegation to any peer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40" y="3035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42232" y="2944368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Status updates before tool calls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8288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79" y="192024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  <a:latin typeface="Calibri"/>
              </a:rPr>
              <a:t>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399" y="233172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5E7EB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399" y="239572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4B5563"/>
                </a:solidFill>
                <a:latin typeface="Calibri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31343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Agent cards (broker)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253288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knows who is online and what they can 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399" y="288036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5E7EB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399" y="294436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4B5563"/>
                </a:solidFill>
                <a:latin typeface="Calibri"/>
              </a:rPr>
              <a:t>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286207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Wedding alerts (event mesh)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308152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S3-driven notifications via Event Mesh Gateway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399" y="342900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5E7EB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399" y="349300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4B5563"/>
                </a:solidFill>
                <a:latin typeface="Calibri"/>
              </a:rPr>
              <a:t>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34107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LINE API (outbound)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363016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sends to a default LINE recipient when alert arrives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297680"/>
            <a:ext cx="11064240" cy="20116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90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297680"/>
            <a:ext cx="91440" cy="201168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389120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  <a:latin typeface="Calibri"/>
              </a:rPr>
              <a:t>SYSTEM PROMPT — KEY DIRECTIVES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709160"/>
            <a:ext cx="106984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Process tasks from external sources via the Gateway.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Pick: Single-Agent Delegation, Multi-Agent Coordination, or Direct Execution.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Venue questions → Wedding Venue Agent (chains to Catering automatically).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MONITOR EVENTS: When a wedding alert arrives from the Solace mesh,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  immediately call send_line_message — do not wait for the user to ask.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When using send_line_message, only provide the message content.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  The system uses a default LINE ID — never set the to_id parameter.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15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DESIGN 2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Wedding Venue Agent —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Finds and books a wedding venue.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95660" y="5715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67665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309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286000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Search venues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066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61518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Get venue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35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2944368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Check date availability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40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42232" y="2286000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Get a price quote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40" y="27066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42232" y="261518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Send booking-request email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40" y="3035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42232" y="2944368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Save a search 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8288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79" y="192024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399" y="233172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399" y="239572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31343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venues.csv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253288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bundled with the agent — not a real database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399" y="288036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399" y="294436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286207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/tmp/samv2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308152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saves search reports as text artifacts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399" y="342900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399" y="349300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34107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SMTP server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363016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sends a real booking email when enabled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297680"/>
            <a:ext cx="11064240" cy="20116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297680"/>
            <a:ext cx="91440" cy="2011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389120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SYSTEM PROMPT — KEY DIRECTIVES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709160"/>
            <a:ext cx="106984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MANDATORY pre-search: must have ALL of guest count, city, date, and event type — never guess defaults.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On a confirmed venue: immediately and automatically trigger the Catering Agent — do not ask the user for permission.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Pass the confirmed guest count, event type, date, venue name and city in the handoff.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Collect the user's full name and phone number BEFORE sending a booking email.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Send the booking via the venue's own tool (it knows the right contact email). Do NOT use the Email Agent for venue booking.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Append the wedding-planning dashboard link to every reply.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16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DESIGN 3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Catering Agent —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Picks the right caterer for the wedding meal.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95660" y="571500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67665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309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286000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Get cuisine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066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61518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Search caterers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35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2944368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Get caterer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40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42232" y="2286000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Get a quote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40" y="27066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42232" y="261518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Save quote + send booking email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8288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192024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399" y="233172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399" y="239572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EA580C"/>
                </a:solidFill>
                <a:latin typeface="Calibri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31343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caterers.csv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53288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16 cuisines, dietary tags, alcohol, dessert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399" y="288036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399" y="294436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EA580C"/>
                </a:solidFill>
                <a:latin typeface="Calibri"/>
              </a:rPr>
              <a:t>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286207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/tmp/samv2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08152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saves the catering quote as a report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399" y="342900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399" y="349300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EA580C"/>
                </a:solidFill>
                <a:latin typeface="Calibri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34107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SMTP server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363016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sends a real booking email when enabled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297680"/>
            <a:ext cx="11064240" cy="20116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91440" cy="20116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389120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SYSTEM PROMPT — KEY DIRECTIVES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709160"/>
            <a:ext cx="106984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Triggered automatically by the Venue Agent — the activation message contains the guest count.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NEVER ask the user how many guests will attend — extract it silently.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Walk through preferences in order: cuisine → dietary → alcohol → dessert → optional budget.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Always pass the venue's city to the caterer search — only show city-relevant caterers.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Send the booking via the catering tool (it has the correct contact email). Do NOT use the Email Agent.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After booking, immediately trigger the Decorator Agent.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17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DESIGN 4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Decorator Agent —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Designs the look and feel of the wedding.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95660" y="5715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67665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309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286000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Get decoration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066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61518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Search decorators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35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2944368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Get decorator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40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42232" y="2286000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Get a quote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40" y="27066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42232" y="261518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Save a quote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8288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192024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399" y="233172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399" y="239572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31343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decorators.csv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53288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themes, flower specialties, colour schemes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399" y="288036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399" y="294436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286207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/tmp/samv2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08152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saves the decoration quote as a report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399" y="342900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399" y="349300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34107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Email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363016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calls the Email Agent to send the booking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297680"/>
            <a:ext cx="11064240" cy="20116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91440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389120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SYSTEM PROMPT — KEY DIRECTIVES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709160"/>
            <a:ext cx="106984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Triggered automatically by the Catering Agent — the activation message contains city, venue, setting and guest count.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NEVER re-ask for any of those — extract them silently and greet warmly.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Gather preferences in order: theme → flowers → colour palette → budget.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Indoor venues: recommend luxury, art deco, contemporary themes. Outdoor: garden, bohemian, rustic, beach.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Carry forward the user's name and phone from previous agents — collect them only if missing.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On booking: send the email via the Email Agent, then immediately trigger the Photo Agent.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18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DESIGN 5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Photo &amp; Video Agent —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Books a photographer to capture the 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95660" y="57150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67665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309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286000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Get photography packages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066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61518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Search photographers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35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2944368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Get photographer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40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42232" y="2286000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Get a quote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40" y="27066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42232" y="261518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Save a quote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8288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192024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399" y="233172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399" y="239572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31343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photographers.csv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53288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8 cities, 4 package tiers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399" y="288036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399" y="294436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286207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/tmp/samv2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08152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saves the photography quote as a report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399" y="342900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399" y="349300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34107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Email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363016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calls the Email Agent to send the booking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297680"/>
            <a:ext cx="11064240" cy="20116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91440" cy="2011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389120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SYSTEM PROMPT — KEY DIRECTIVES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709160"/>
            <a:ext cx="106984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Triggered automatically by the Decorator Agent — the activation message contains city and venue name.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NEVER re-ask for those — extract silently and greet warmly.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Always present the four package tiers first: Essential / Signature / Photo + Film / Full Cinematic.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Walk through: package → style → budget.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Carry forward the user's name and phone — collect only if missing.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On booking: send the email via the Email Agent. This is the final step — close the planning loop.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19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DESIGN 6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Email Agent —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Sends booking emails on behalf of the couple.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95660" y="571500"/>
            <a:ext cx="502920" cy="50292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67665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309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286000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Send venue booking email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066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61518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Send caterer booking 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35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2944368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Send decorator booking 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40" y="23774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42232" y="2286000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Send full wedding summary email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40" y="27066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42232" y="261518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Save email log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8288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192024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399" y="233172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2E8F0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399" y="239572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475569"/>
                </a:solidFill>
                <a:latin typeface="Calibri"/>
              </a:rPr>
              <a:t>(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31343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(no CSV)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53288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all data comes from the calling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399" y="288036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2E8F0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399" y="294436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475569"/>
                </a:solidFill>
                <a:latin typeface="Calibri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286207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SMTP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08152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sends real emails when SMTP_DEV_MODE=false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399" y="342900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2E8F0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399" y="3493008"/>
            <a:ext cx="411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475569"/>
                </a:solidFill>
                <a:latin typeface="Calibri"/>
              </a:rPr>
              <a:t>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34107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/tmp/samv2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3630168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saves a session log of every email sent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297680"/>
            <a:ext cx="11064240" cy="201168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90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91440" cy="20116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389120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SYSTEM PROMPT — KEY DIRECTIVES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709160"/>
            <a:ext cx="106984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You are invoked by other agents. You do NOT interact with the user directly.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Send a booking-request email when the user confirms a vendor (venue, caterer, decorator).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After all three vendor bookings, send the couple a full wedding summary email.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Default mode is SIMULATED — set SMTP_DEV_MODE=false (with SMTP credentials) for real sending.</a:t>
            </a:r>
          </a:p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• Return the standard agent_response field verbatim to the calling agent — it is the message the user will see.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8BEC8"/>
                </a:solidFill>
                <a:latin typeface="Calibri"/>
              </a:rPr>
              <a:t>Agent Mesh · Wedding Planning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8BEC8"/>
                </a:solidFill>
                <a:latin typeface="Calibri"/>
              </a:rPr>
              <a:t>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111827"/>
                </a:solidFill>
                <a:latin typeface="Calibri"/>
              </a:rPr>
              <a:t>What you just saw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One conversation + live events. Six agents. Two gateways.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1064240" cy="700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8007" y="2011680"/>
            <a:ext cx="3474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8007" y="2011680"/>
            <a:ext cx="3474720" cy="91440"/>
          </a:xfrm>
          <a:prstGeom prst="roundRect">
            <a:avLst>
              <a:gd name="adj" fmla="val 6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8007" y="237744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 i="0">
                <a:solidFill>
                  <a:srgbClr val="2563EB"/>
                </a:solidFill>
                <a:latin typeface="Calibri"/>
              </a:rPr>
              <a:t>TWO ways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07" y="3108960"/>
            <a:ext cx="34747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0">
                <a:solidFill>
                  <a:srgbClr val="374151"/>
                </a:solidFill>
                <a:latin typeface="Calibri"/>
              </a:rPr>
              <a:t>WebUI for human conversations.</a:t>
            </a:r>
          </a:p>
          <a:p>
            <a:pPr algn="ctr"/>
            <a:r>
              <a:rPr sz="1300" b="0" i="0">
                <a:solidFill>
                  <a:srgbClr val="374151"/>
                </a:solidFill>
                <a:latin typeface="Calibri"/>
              </a:rPr>
              <a:t>Event Mesh for S3-driven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8487" y="2011680"/>
            <a:ext cx="3474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58487" y="2011680"/>
            <a:ext cx="3474720" cy="91440"/>
          </a:xfrm>
          <a:prstGeom prst="roundRect">
            <a:avLst>
              <a:gd name="adj" fmla="val 6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58487" y="237744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 i="0">
                <a:solidFill>
                  <a:srgbClr val="7C3AED"/>
                </a:solidFill>
                <a:latin typeface="Calibri"/>
              </a:rPr>
              <a:t>SIX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487" y="3108960"/>
            <a:ext cx="34747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0">
                <a:solidFill>
                  <a:srgbClr val="374151"/>
                </a:solidFill>
                <a:latin typeface="Calibri"/>
              </a:rPr>
              <a:t>Each focused on a single job —</a:t>
            </a:r>
          </a:p>
          <a:p>
            <a:pPr algn="ctr"/>
            <a:r>
              <a:rPr sz="1300" b="0" i="0">
                <a:solidFill>
                  <a:srgbClr val="374151"/>
                </a:solidFill>
                <a:latin typeface="Calibri"/>
              </a:rPr>
              <a:t>find, suggest, quote, book, notify.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8967" y="2011680"/>
            <a:ext cx="3474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98967" y="2011680"/>
            <a:ext cx="3474720" cy="91440"/>
          </a:xfrm>
          <a:prstGeom prst="roundRect">
            <a:avLst>
              <a:gd name="adj" fmla="val 6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8967" y="2377440"/>
            <a:ext cx="3474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FIVE emails</a:t>
            </a:r>
          </a:p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+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8967" y="3108960"/>
            <a:ext cx="34747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0" i="0">
                <a:solidFill>
                  <a:srgbClr val="374151"/>
                </a:solidFill>
                <a:latin typeface="Calibri"/>
              </a:rPr>
              <a:t>Four vendor bookings + one summary.</a:t>
            </a:r>
          </a:p>
          <a:p>
            <a:pPr algn="ctr"/>
            <a:r>
              <a:rPr sz="1300" b="0" i="0">
                <a:solidFill>
                  <a:srgbClr val="374151"/>
                </a:solidFill>
                <a:latin typeface="Calibri"/>
              </a:rPr>
              <a:t>Plus LINE pings on mesh events.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20000"/>
            </a:avLst>
          </a:prstGeom>
          <a:solidFill>
            <a:srgbClr val="FAFBFC"/>
          </a:solidFill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11064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  <a:latin typeface="Calibri"/>
              </a:rPr>
              <a:t>Try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111827"/>
                </a:solidFill>
                <a:latin typeface="Consolas"/>
              </a:rPr>
              <a:t>sam run    →    open http://localhost:8000    →    “Help us plan our wedding”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2678</Words>
  <Application>Microsoft Macintosh PowerPoint</Application>
  <PresentationFormat>Widescreen</PresentationFormat>
  <Paragraphs>522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Vincent Lam</cp:lastModifiedBy>
  <cp:revision>2</cp:revision>
  <dcterms:created xsi:type="dcterms:W3CDTF">2013-01-27T09:14:16Z</dcterms:created>
  <dcterms:modified xsi:type="dcterms:W3CDTF">2026-05-13T08:53:42Z</dcterms:modified>
  <cp:category/>
</cp:coreProperties>
</file>